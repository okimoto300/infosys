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005840"/>
            <a:ext cx="3108960" cy="384048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9A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33271"/>
            <a:ext cx="31089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BE6F5"/>
                </a:solidFill>
                <a:latin typeface="Yu Gothic"/>
                <a:ea typeface="Yu Gothic"/>
              </a:rPr>
              <a:t>規程 ｜ セキュリティ標準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Yu Gothic"/>
                <a:ea typeface="Yu Gothic"/>
              </a:rPr>
              <a:t>サービス／ITシステム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Yu Gothic"/>
                <a:ea typeface="Yu Gothic"/>
              </a:rPr>
              <a:t>停止基準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B9CBE4"/>
                </a:solidFill>
                <a:latin typeface="Yu Gothic"/>
                <a:ea typeface="Yu Gothic"/>
              </a:rPr>
              <a:t>― フロンティアAIによるゼロデイ／Nデイ脅威への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B9CBE4"/>
                </a:solidFill>
                <a:latin typeface="Yu Gothic"/>
                <a:ea typeface="Yu Gothic"/>
              </a:rPr>
              <a:t>　能動的な停止判断・停止手順の整備 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394960"/>
            <a:ext cx="2514600" cy="960120"/>
          </a:xfrm>
          <a:prstGeom prst="roundRect">
            <a:avLst>
              <a:gd name="adj" fmla="val 10000"/>
            </a:avLst>
          </a:prstGeom>
          <a:solidFill>
            <a:srgbClr val="1F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BDD9"/>
                </a:solidFill>
                <a:latin typeface="Yu Gothic"/>
                <a:ea typeface="Yu Gothic"/>
              </a:rPr>
              <a:t>文書番号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SEC-STD-001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5394960"/>
            <a:ext cx="2514600" cy="960120"/>
          </a:xfrm>
          <a:prstGeom prst="roundRect">
            <a:avLst>
              <a:gd name="adj" fmla="val 10000"/>
            </a:avLst>
          </a:prstGeom>
          <a:solidFill>
            <a:srgbClr val="1F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BDD9"/>
                </a:solidFill>
                <a:latin typeface="Yu Gothic"/>
                <a:ea typeface="Yu Gothic"/>
              </a:rPr>
              <a:t>版数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v1.3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5394960"/>
            <a:ext cx="2514600" cy="960120"/>
          </a:xfrm>
          <a:prstGeom prst="roundRect">
            <a:avLst>
              <a:gd name="adj" fmla="val 10000"/>
            </a:avLst>
          </a:prstGeom>
          <a:solidFill>
            <a:srgbClr val="1F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BDD9"/>
                </a:solidFill>
                <a:latin typeface="Yu Gothic"/>
                <a:ea typeface="Yu Gothic"/>
              </a:rPr>
              <a:t>制定日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2026-07-03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5394960"/>
            <a:ext cx="2514600" cy="960120"/>
          </a:xfrm>
          <a:prstGeom prst="roundRect">
            <a:avLst>
              <a:gd name="adj" fmla="val 10000"/>
            </a:avLst>
          </a:prstGeom>
          <a:solidFill>
            <a:srgbClr val="1F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BDD9"/>
                </a:solidFill>
                <a:latin typeface="Yu Gothic"/>
                <a:ea typeface="Yu Gothic"/>
              </a:rPr>
              <a:t>見直し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年1回／改定の都度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8DA5C9"/>
                </a:solidFill>
                <a:latin typeface="Yu Gothic"/>
                <a:ea typeface="Yu Gothic"/>
              </a:rPr>
              <a:t>直感的に理解するためのポンチ絵版プレゼン資料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566928" cy="493776"/>
          </a:xfrm>
          <a:prstGeom prst="roundRect">
            <a:avLst>
              <a:gd name="adj" fmla="val 2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Yu Gothic"/>
                <a:ea typeface="Yu Gothic"/>
              </a:rPr>
              <a:t>なぜ今、この基準が必要か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548640"/>
            <a:ext cx="104241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9CBE4"/>
                </a:solidFill>
                <a:latin typeface="Yu Gothic"/>
                <a:ea typeface="Yu Gothic"/>
              </a:rPr>
              <a:t>金融庁・日本銀行 連名要請（別添⑧）が背景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2F52"/>
                </a:solidFill>
                <a:latin typeface="Yu Gothic"/>
                <a:ea typeface="Yu Gothic"/>
              </a:rPr>
              <a:t>フロンティアAIが「脆弱性発見 → 攻撃」の時間を劇的に短縮する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7280"/>
                </a:solidFill>
                <a:latin typeface="Yu Gothic"/>
                <a:ea typeface="Yu Gothic"/>
              </a:rPr>
              <a:t>従来</a:t>
            </a:r>
          </a:p>
        </p:txBody>
      </p:sp>
      <p:sp>
        <p:nvSpPr>
          <p:cNvPr id="9" name="Chevron 8"/>
          <p:cNvSpPr/>
          <p:nvPr/>
        </p:nvSpPr>
        <p:spPr>
          <a:xfrm>
            <a:off x="1965960" y="1600200"/>
            <a:ext cx="2743200" cy="822960"/>
          </a:xfrm>
          <a:prstGeom prst="chevron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脆弱性の発見</a:t>
            </a:r>
          </a:p>
        </p:txBody>
      </p:sp>
      <p:sp>
        <p:nvSpPr>
          <p:cNvPr id="10" name="Chevron 9"/>
          <p:cNvSpPr/>
          <p:nvPr/>
        </p:nvSpPr>
        <p:spPr>
          <a:xfrm>
            <a:off x="4617720" y="1600200"/>
            <a:ext cx="3840480" cy="822960"/>
          </a:xfrm>
          <a:prstGeom prst="chevron">
            <a:avLst/>
          </a:prstGeom>
          <a:solidFill>
            <a:srgbClr val="B0B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攻撃コード化まで数週間〜数ヶ月</a:t>
            </a:r>
          </a:p>
        </p:txBody>
      </p:sp>
      <p:sp>
        <p:nvSpPr>
          <p:cNvPr id="11" name="Chevron 10"/>
          <p:cNvSpPr/>
          <p:nvPr/>
        </p:nvSpPr>
        <p:spPr>
          <a:xfrm>
            <a:off x="8366760" y="1600200"/>
            <a:ext cx="3200400" cy="822960"/>
          </a:xfrm>
          <a:prstGeom prst="chevron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対策の時間があった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0604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</a:rPr>
              <a:t>AI時代</a:t>
            </a:r>
          </a:p>
        </p:txBody>
      </p:sp>
      <p:sp>
        <p:nvSpPr>
          <p:cNvPr id="13" name="Chevron 12"/>
          <p:cNvSpPr/>
          <p:nvPr/>
        </p:nvSpPr>
        <p:spPr>
          <a:xfrm>
            <a:off x="1965960" y="2606040"/>
            <a:ext cx="2743200" cy="822960"/>
          </a:xfrm>
          <a:prstGeom prst="chevron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大量に自動発見</a:t>
            </a:r>
          </a:p>
        </p:txBody>
      </p:sp>
      <p:sp>
        <p:nvSpPr>
          <p:cNvPr id="14" name="Chevron 13"/>
          <p:cNvSpPr/>
          <p:nvPr/>
        </p:nvSpPr>
        <p:spPr>
          <a:xfrm>
            <a:off x="4617720" y="2606040"/>
            <a:ext cx="2468880" cy="822960"/>
          </a:xfrm>
          <a:prstGeom prst="chevron">
            <a:avLst/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数時間で攻撃コード</a:t>
            </a:r>
          </a:p>
        </p:txBody>
      </p:sp>
      <p:sp>
        <p:nvSpPr>
          <p:cNvPr id="15" name="Chevron 14"/>
          <p:cNvSpPr/>
          <p:nvPr/>
        </p:nvSpPr>
        <p:spPr>
          <a:xfrm>
            <a:off x="6995160" y="2606040"/>
            <a:ext cx="4572000" cy="822960"/>
          </a:xfrm>
          <a:prstGeom prst="chevron">
            <a:avLst/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Yu Gothic"/>
                <a:ea typeface="Yu Gothic"/>
              </a:rPr>
              <a:t>防御が間に合わない／スキル低い攻撃者でも高度な攻撃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2F52"/>
                </a:solidFill>
                <a:latin typeface="Yu Gothic"/>
                <a:ea typeface="Yu Gothic"/>
              </a:rPr>
              <a:t>要請が想定する3つの事態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24528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6DB3"/>
                </a:solidFill>
                <a:latin typeface="Yu Gothic"/>
                <a:ea typeface="Yu Gothic"/>
              </a:rPr>
              <a:t>🔍  </a:t>
            </a:r>
            <a:r>
              <a:rPr sz="1400" b="1" i="0">
                <a:solidFill>
                  <a:srgbClr val="1A2F52"/>
                </a:solidFill>
                <a:latin typeface="Yu Gothic"/>
                <a:ea typeface="Yu Gothic"/>
              </a:rPr>
              <a:t>脆弱性の大量発見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5488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従来は困難だった脆弱性が短期間に大量に見つかる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41148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224528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6DB3"/>
                </a:solidFill>
                <a:latin typeface="Yu Gothic"/>
                <a:ea typeface="Yu Gothic"/>
              </a:rPr>
              <a:t>⏱  </a:t>
            </a:r>
            <a:r>
              <a:rPr sz="1400" b="1" i="0">
                <a:solidFill>
                  <a:srgbClr val="1A2F52"/>
                </a:solidFill>
                <a:latin typeface="Yu Gothic"/>
                <a:ea typeface="Yu Gothic"/>
              </a:rPr>
              <a:t>発見→攻撃の短縮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75488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パッチ提供直後に攻撃コードが出現し得る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1148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224528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6DB3"/>
                </a:solidFill>
                <a:latin typeface="Yu Gothic"/>
                <a:ea typeface="Yu Gothic"/>
              </a:rPr>
              <a:t>⚔  </a:t>
            </a:r>
            <a:r>
              <a:rPr sz="1400" b="1" i="0">
                <a:solidFill>
                  <a:srgbClr val="1A2F52"/>
                </a:solidFill>
                <a:latin typeface="Yu Gothic"/>
                <a:ea typeface="Yu Gothic"/>
              </a:rPr>
              <a:t>攻撃の高度化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75488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スキルの低い攻撃者でも高度な攻撃が可能に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715000"/>
            <a:ext cx="11247120" cy="566928"/>
          </a:xfrm>
          <a:prstGeom prst="roundRect">
            <a:avLst>
              <a:gd name="adj" fmla="val 10000"/>
            </a:avLst>
          </a:prstGeom>
          <a:solidFill>
            <a:srgbClr val="FBEEEE"/>
          </a:solidFill>
          <a:ln w="12700">
            <a:solidFill>
              <a:srgbClr val="E5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F1D1D"/>
                </a:solidFill>
                <a:latin typeface="Yu Gothic"/>
                <a:ea typeface="Yu Gothic"/>
              </a:rPr>
              <a:t>前提：各種対策を徹底してもサイバー攻撃を防御できない可能性がある ⇒ </a:t>
            </a:r>
            <a:r>
              <a:rPr sz="1300" b="1" i="0">
                <a:solidFill>
                  <a:srgbClr val="1A2F52"/>
                </a:solidFill>
                <a:latin typeface="Yu Gothic"/>
                <a:ea typeface="Yu Gothic"/>
              </a:rPr>
              <a:t>「誰が・いつ・何を根拠に・どう止めるか」を予め決めておく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SEC-STD-001 v1.3 ｜ サービス／ITシステム停止基準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566928" cy="493776"/>
          </a:xfrm>
          <a:prstGeom prst="roundRect">
            <a:avLst>
              <a:gd name="adj" fmla="val 2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Yu Gothic"/>
                <a:ea typeface="Yu Gothic"/>
              </a:rPr>
              <a:t>本基準の全体像 ― 認識から復旧までの流れ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123785" cy="548640"/>
          </a:xfrm>
          <a:prstGeom prst="roundRect">
            <a:avLst>
              <a:gd name="adj" fmla="val 12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認識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2123785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事象を組織として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知った時点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（検知・当局・ISAC等）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2697" y="2651760"/>
            <a:ext cx="201168" cy="41148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5577" y="1554480"/>
            <a:ext cx="2123785" cy="548640"/>
          </a:xfrm>
          <a:prstGeom prst="roundRect">
            <a:avLst>
              <a:gd name="adj" fmla="val 12000"/>
            </a:avLst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トリガー判定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5577" y="2148840"/>
            <a:ext cx="2123785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2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第6章 V／A／E の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どれに該当するか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該当番号を特定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51074" y="2651760"/>
            <a:ext cx="201168" cy="41148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33954" y="1554480"/>
            <a:ext cx="2123785" cy="548640"/>
          </a:xfrm>
          <a:prstGeom prst="roundRect">
            <a:avLst>
              <a:gd name="adj" fmla="val 12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レベル決定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3954" y="2148840"/>
            <a:ext cx="2123785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L0〜L4 と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遮断／停止 の手段を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権限者が決定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39452" y="2651760"/>
            <a:ext cx="201168" cy="41148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22332" y="1554480"/>
            <a:ext cx="2123785" cy="548640"/>
          </a:xfrm>
          <a:prstGeom prst="roundRect">
            <a:avLst>
              <a:gd name="adj" fmla="val 12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停止実行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2332" y="2148840"/>
            <a:ext cx="2123785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43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第9章の順序で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証拠保全→停止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到達不能を検証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27829" y="2651760"/>
            <a:ext cx="201168" cy="41148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10709" y="1554480"/>
            <a:ext cx="2123785" cy="54864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復旧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0709" y="2148840"/>
            <a:ext cx="2123785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第10章の5要件を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すべて満たしてから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逆順で段階復旧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2F52"/>
                </a:solidFill>
                <a:latin typeface="Yu Gothic"/>
                <a:ea typeface="Yu Gothic"/>
              </a:rPr>
              <a:t>全工程を貫く2つの判断軸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5532120" cy="192024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512064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F52"/>
                </a:solidFill>
                <a:latin typeface="Yu Gothic"/>
                <a:ea typeface="Yu Gothic"/>
              </a:rPr>
              <a:t>① どのレベルまで止めるか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4292F"/>
                </a:solidFill>
                <a:latin typeface="Yu Gothic"/>
                <a:ea typeface="Yu Gothic"/>
              </a:rPr>
              <a:t>　縮退 → 外部遮断 → 全面停止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43F3F"/>
                </a:solidFill>
                <a:latin typeface="Yu Gothic"/>
                <a:ea typeface="Yu Gothic"/>
              </a:rPr>
              <a:t>　迷ったら強い停止側へ倒す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24292F"/>
                </a:solidFill>
                <a:latin typeface="Yu Gothic"/>
                <a:ea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F52"/>
                </a:solidFill>
                <a:latin typeface="Yu Gothic"/>
                <a:ea typeface="Yu Gothic"/>
              </a:rPr>
              <a:t>② どの手段で止めるか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4F"/>
                </a:solidFill>
                <a:latin typeface="Yu Gothic"/>
                <a:ea typeface="Yu Gothic"/>
              </a:rPr>
              <a:t>　侵害痕跡なし → 遮断・隔離を優先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43F3F"/>
                </a:solidFill>
                <a:latin typeface="Yu Gothic"/>
                <a:ea typeface="Yu Gothic"/>
              </a:rPr>
              <a:t>　痕跡あり → 隔離・停止まで踏み込む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160520"/>
            <a:ext cx="5532120" cy="192024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 w="12700"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512064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8A5200"/>
                </a:solidFill>
                <a:latin typeface="Yu Gothic"/>
                <a:ea typeface="Yu Gothic"/>
              </a:rPr>
              <a:t>時間との勝負（AI時代の前提）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4292F"/>
                </a:solidFill>
                <a:latin typeface="Yu Gothic"/>
                <a:ea typeface="Yu Gothic"/>
              </a:rPr>
              <a:t>・「PoC未公開」「スコア低い」を見送りの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4292F"/>
                </a:solidFill>
                <a:latin typeface="Yu Gothic"/>
                <a:ea typeface="Yu Gothic"/>
              </a:rPr>
              <a:t>　根拠にしない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4292F"/>
                </a:solidFill>
                <a:latin typeface="Yu Gothic"/>
                <a:ea typeface="Yu Gothic"/>
              </a:rPr>
              <a:t>・攻撃成立の </a:t>
            </a:r>
            <a:r>
              <a:rPr sz="1250" b="1" i="0">
                <a:solidFill>
                  <a:srgbClr val="D43F3F"/>
                </a:solidFill>
                <a:latin typeface="Yu Gothic"/>
                <a:ea typeface="Yu Gothic"/>
              </a:rPr>
              <a:t>蓋然性</a:t>
            </a:r>
            <a:r>
              <a:rPr sz="1250" b="0" i="0">
                <a:solidFill>
                  <a:srgbClr val="24292F"/>
                </a:solidFill>
                <a:latin typeface="Yu Gothic"/>
                <a:ea typeface="Yu Gothic"/>
              </a:rPr>
              <a:t>で評価する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4292F"/>
                </a:solidFill>
                <a:latin typeface="Yu Gothic"/>
                <a:ea typeface="Yu Gothic"/>
              </a:rPr>
              <a:t>・パッチ公開＝攻撃コード出現の起点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4292F"/>
                </a:solidFill>
                <a:latin typeface="Yu Gothic"/>
                <a:ea typeface="Yu Gothic"/>
              </a:rPr>
              <a:t>・夜間休日でも判断できるよう権限を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4292F"/>
                </a:solidFill>
                <a:latin typeface="Yu Gothic"/>
                <a:ea typeface="Yu Gothic"/>
              </a:rPr>
              <a:t>　事前委譲（事後報告可）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SEC-STD-001 v1.3 ｜ サービス／ITシステム停止基準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566928" cy="493776"/>
          </a:xfrm>
          <a:prstGeom prst="roundRect">
            <a:avLst>
              <a:gd name="adj" fmla="val 2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Yu Gothic"/>
                <a:ea typeface="Yu Gothic"/>
              </a:rPr>
              <a:t>停止レベルの定義 ― 段階的に強くする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548640"/>
            <a:ext cx="104241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9CBE4"/>
                </a:solidFill>
                <a:latin typeface="Yu Gothic"/>
                <a:ea typeface="Yu Gothic"/>
              </a:rPr>
              <a:t>第5章：複数該当時は最も高いレベルを適用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36592"/>
            <a:ext cx="1965960" cy="1069848"/>
          </a:xfrm>
          <a:prstGeom prst="roundRect">
            <a:avLst>
              <a:gd name="adj" fmla="val 6000"/>
            </a:avLst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09744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</a:rPr>
              <a:t>L0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85232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通常運用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1965960" cy="777240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通常監視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4169664"/>
            <a:ext cx="1965960" cy="1636776"/>
          </a:xfrm>
          <a:prstGeom prst="roundRect">
            <a:avLst>
              <a:gd name="adj" fmla="val 6000"/>
            </a:avLst>
          </a:prstGeom>
          <a:solidFill>
            <a:srgbClr val="D2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242816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</a:rP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718304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警戒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983480"/>
            <a:ext cx="1965960" cy="777240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監視強化・ログ保全・仮想パッチ / サービス影響なし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602736"/>
            <a:ext cx="1965960" cy="2203704"/>
          </a:xfrm>
          <a:prstGeom prst="roundRect">
            <a:avLst>
              <a:gd name="adj" fmla="val 6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675888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151376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部分停止（縮退）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983480"/>
            <a:ext cx="1965960" cy="777240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該当機能・APIのみ無効化・レート制限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3035808"/>
            <a:ext cx="1965960" cy="2770632"/>
          </a:xfrm>
          <a:prstGeom prst="roundRect">
            <a:avLst>
              <a:gd name="adj" fmla="val 6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3108960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</a:rPr>
              <a:t>L3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584448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外部接続遮断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983480"/>
            <a:ext cx="1965960" cy="777240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インターネット側を遮断・内部業務は継続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468880"/>
            <a:ext cx="1965960" cy="3337560"/>
          </a:xfrm>
          <a:prstGeom prst="roundRect">
            <a:avLst>
              <a:gd name="adj" fmla="val 6000"/>
            </a:avLst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542032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</a:rPr>
              <a:t>L4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01752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全面停止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983480"/>
            <a:ext cx="1965960" cy="777240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静止点確保・バックアップ後に全停止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Yu Gothic"/>
                <a:ea typeface="Yu Gothic"/>
              </a:rPr>
              <a:t>← 弱い（可用性を優先）</a:t>
            </a:r>
            <a:r>
              <a:rPr sz="1200" b="0" i="0">
                <a:solidFill>
                  <a:srgbClr val="6B7280"/>
                </a:solidFill>
                <a:latin typeface="Yu Gothic"/>
                <a:ea typeface="Yu Gothic"/>
              </a:rPr>
              <a:t>　　　　　　　　　　　　　　　　　　　　　　　　　　</a:t>
            </a:r>
            <a:r>
              <a:rPr sz="1200" b="1" i="0">
                <a:solidFill>
                  <a:srgbClr val="8F1D1D"/>
                </a:solidFill>
                <a:latin typeface="Yu Gothic"/>
                <a:ea typeface="Yu Gothic"/>
              </a:rPr>
              <a:t>強い（被害防止を優先）→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98932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12700"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証拠保全：L3以上では停止前に揮発性情報を保全（第9.3）。保全と被害拡大防止が両立しない時は </a:t>
            </a:r>
            <a:r>
              <a:rPr sz="1200" b="1" i="0">
                <a:solidFill>
                  <a:srgbClr val="E07B00"/>
                </a:solidFill>
                <a:latin typeface="Yu Gothic"/>
                <a:ea typeface="Yu Gothic"/>
              </a:rPr>
              <a:t>被害拡大防止（遮断）を優先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SEC-STD-001 v1.3 ｜ サービス／ITシステム停止基準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566928" cy="493776"/>
          </a:xfrm>
          <a:prstGeom prst="roundRect">
            <a:avLst>
              <a:gd name="adj" fmla="val 2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Yu Gothic"/>
                <a:ea typeface="Yu Gothic"/>
              </a:rPr>
              <a:t>停止発動トリガー ― 3つの起因と判断期限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548640"/>
            <a:ext cx="104241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9CBE4"/>
                </a:solidFill>
                <a:latin typeface="Yu Gothic"/>
                <a:ea typeface="Yu Gothic"/>
              </a:rPr>
              <a:t>第6章：該当したら指定レベル以上を発動（Must）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3703320" cy="603504"/>
          </a:xfrm>
          <a:prstGeom prst="roundRect">
            <a:avLst>
              <a:gd name="adj" fmla="val 1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V  脆弱性起因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ゼロデイ／Nデイ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47088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892808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6DB3"/>
                </a:solidFill>
                <a:latin typeface="Consolas"/>
                <a:ea typeface="Consolas"/>
              </a:rPr>
              <a:t>V-1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901952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920240"/>
            <a:ext cx="658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43F3F"/>
                </a:solidFill>
                <a:latin typeface="Yu Gothic"/>
                <a:ea typeface="Yu Gothic"/>
              </a:rPr>
              <a:t>4時間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76272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認証不要で悪用可能な重大脆弱性・即時対策不可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688336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734056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6DB3"/>
                </a:solidFill>
                <a:latin typeface="Consolas"/>
                <a:ea typeface="Consolas"/>
              </a:rPr>
              <a:t>V-2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743200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761488"/>
            <a:ext cx="658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43F3F"/>
                </a:solidFill>
                <a:latin typeface="Yu Gothic"/>
                <a:ea typeface="Yu Gothic"/>
              </a:rPr>
              <a:t>2時間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017520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KEV登録・EPSS0.5+・PoC公開・悪用観測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529584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575304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6DB3"/>
                </a:solidFill>
                <a:latin typeface="Consolas"/>
                <a:ea typeface="Consolas"/>
              </a:rPr>
              <a:t>V-3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584448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3602736"/>
            <a:ext cx="658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43F3F"/>
                </a:solidFill>
                <a:latin typeface="Yu Gothic"/>
                <a:ea typeface="Yu Gothic"/>
              </a:rPr>
              <a:t>1時間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858768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自組織製品での実際の悪用を観測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370832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416552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6DB3"/>
                </a:solidFill>
                <a:latin typeface="Consolas"/>
                <a:ea typeface="Consolas"/>
              </a:rPr>
              <a:t>V-4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425696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4443984"/>
            <a:ext cx="658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43F3F"/>
                </a:solidFill>
                <a:latin typeface="Yu Gothic"/>
                <a:ea typeface="Yu Gothic"/>
              </a:rPr>
              <a:t>2時間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700016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Nデイ期間に攻撃コード出現・仮想パッチ不可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212080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525780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6DB3"/>
                </a:solidFill>
                <a:latin typeface="Consolas"/>
                <a:ea typeface="Consolas"/>
              </a:rPr>
              <a:t>V-5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5266944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L2+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5285232"/>
            <a:ext cx="658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43F3F"/>
                </a:solidFill>
                <a:latin typeface="Yu Gothic"/>
                <a:ea typeface="Yu Gothic"/>
              </a:rPr>
              <a:t>24h計画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541264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EOL製品に重大脆弱性・恒久対策なし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5112" y="1170432"/>
            <a:ext cx="3703320" cy="603504"/>
          </a:xfrm>
          <a:prstGeom prst="roundRect">
            <a:avLst>
              <a:gd name="adj" fmla="val 10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A  攻撃検知起因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痕跡を検知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5112" y="1847088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8264" y="1892808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43F3F"/>
                </a:solidFill>
                <a:latin typeface="Consolas"/>
                <a:ea typeface="Consolas"/>
              </a:rPr>
              <a:t>A-1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48272" y="1901952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920240"/>
            <a:ext cx="658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43F3F"/>
                </a:solidFill>
                <a:latin typeface="Yu Gothic"/>
                <a:ea typeface="Yu Gothic"/>
              </a:rPr>
              <a:t>即時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98264" y="2176272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既存シグネチャ外の不審挙動・ゼロデイ疑い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5112" y="2688336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8264" y="2734056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43F3F"/>
                </a:solidFill>
                <a:latin typeface="Consolas"/>
                <a:ea typeface="Consolas"/>
              </a:rPr>
              <a:t>A-2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48272" y="2743200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2761488"/>
            <a:ext cx="658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43F3F"/>
                </a:solidFill>
                <a:latin typeface="Yu Gothic"/>
                <a:ea typeface="Yu Gothic"/>
              </a:rPr>
              <a:t>即時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017520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Webシェル・権限昇格の痕跡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25112" y="3529584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98264" y="3575304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43F3F"/>
                </a:solidFill>
                <a:latin typeface="Consolas"/>
                <a:ea typeface="Consolas"/>
              </a:rPr>
              <a:t>A-3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48272" y="3584448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3602736"/>
            <a:ext cx="658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43F3F"/>
                </a:solidFill>
                <a:latin typeface="Yu Gothic"/>
                <a:ea typeface="Yu Gothic"/>
              </a:rPr>
              <a:t>即時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98264" y="3858768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不正クエリ成功・機微情報の外部送信兆候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25112" y="4370832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98264" y="4416552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43F3F"/>
                </a:solidFill>
                <a:latin typeface="Consolas"/>
                <a:ea typeface="Consolas"/>
              </a:rPr>
              <a:t>A-4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48272" y="4425696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443984"/>
            <a:ext cx="658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43F3F"/>
                </a:solidFill>
                <a:latin typeface="Yu Gothic"/>
                <a:ea typeface="Yu Gothic"/>
              </a:rPr>
              <a:t>即時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98264" y="4700016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認証基盤の侵害（クレデンシャル不正利用）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25112" y="5212080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98264" y="525780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43F3F"/>
                </a:solidFill>
                <a:latin typeface="Consolas"/>
                <a:ea typeface="Consolas"/>
              </a:rPr>
              <a:t>A-5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48272" y="5266944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5285232"/>
            <a:ext cx="658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43F3F"/>
                </a:solidFill>
                <a:latin typeface="Yu Gothic"/>
                <a:ea typeface="Yu Gothic"/>
              </a:rPr>
              <a:t>即時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98264" y="5541264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ランサムウェア・ワイパー等の破壊挙動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38744" y="1170432"/>
            <a:ext cx="3703320" cy="603504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</a:rPr>
              <a:t>E  外部要因起因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Yu Gothic"/>
                <a:ea typeface="Yu Gothic"/>
              </a:rPr>
              <a:t>外からの契機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38744" y="1847088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11896" y="1892808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onsolas"/>
                <a:ea typeface="Consolas"/>
              </a:rPr>
              <a:t>E-1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661904" y="1901952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L2+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11896" y="2176272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当局・日銀・警察からの停止要請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38744" y="2688336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11896" y="2734056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onsolas"/>
                <a:ea typeface="Consolas"/>
              </a:rPr>
              <a:t>E-2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661904" y="2743200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11896" y="3017520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利用中SaaS・外部APIの侵害公表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38744" y="3529584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11896" y="3575304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onsolas"/>
                <a:ea typeface="Consolas"/>
              </a:rPr>
              <a:t>E-3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661904" y="3584448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11896" y="3858768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サプライチェーン攻撃（OSS等混入）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38744" y="4370832"/>
            <a:ext cx="3703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11896" y="4416552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Consolas"/>
                <a:ea typeface="Consolas"/>
              </a:rPr>
              <a:t>E-4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661904" y="4425696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</a:rPr>
              <a:t>L3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11896" y="4700016"/>
            <a:ext cx="3538728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共同運営システムの他機関で侵害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1480" y="6144768"/>
            <a:ext cx="11338560" cy="457200"/>
          </a:xfrm>
          <a:prstGeom prst="roundRect">
            <a:avLst>
              <a:gd name="adj" fmla="val 10000"/>
            </a:avLst>
          </a:prstGeom>
          <a:solidFill>
            <a:srgbClr val="FBEEEE"/>
          </a:solidFill>
          <a:ln w="12700">
            <a:solidFill>
              <a:srgbClr val="E5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F1D1D"/>
                </a:solidFill>
                <a:latin typeface="Yu Gothic"/>
                <a:ea typeface="Yu Gothic"/>
              </a:rPr>
              <a:t>AI補正ルール：CVSSスコアだけで判断しない／パッチ公開＝攻撃コード出現の起点とみなす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SEC-STD-001 v1.3 ｜ サービス／ITシステム停止基準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566928" cy="493776"/>
          </a:xfrm>
          <a:prstGeom prst="roundRect">
            <a:avLst>
              <a:gd name="adj" fmla="val 2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Yu Gothic"/>
                <a:ea typeface="Yu Gothic"/>
              </a:rPr>
              <a:t>遮断 vs システム停止の使い分け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548640"/>
            <a:ext cx="104241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9CBE4"/>
                </a:solidFill>
                <a:latin typeface="Yu Gothic"/>
                <a:ea typeface="Yu Gothic"/>
              </a:rPr>
              <a:t>基本方針④ 遮断優先の原則（第9.2）</a:t>
            </a:r>
          </a:p>
        </p:txBody>
      </p:sp>
      <p:sp>
        <p:nvSpPr>
          <p:cNvPr id="7" name="Oval 6"/>
          <p:cNvSpPr/>
          <p:nvPr/>
        </p:nvSpPr>
        <p:spPr>
          <a:xfrm>
            <a:off x="5212080" y="1234440"/>
            <a:ext cx="1737360" cy="1737360"/>
          </a:xfrm>
          <a:prstGeom prst="ellipse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</a:rPr>
              <a:t>侵害痕跡は</a:t>
            </a:r>
          </a:p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</a:rPr>
              <a:t>あるか？</a:t>
            </a:r>
          </a:p>
        </p:txBody>
      </p:sp>
      <p:sp>
        <p:nvSpPr>
          <p:cNvPr id="8" name="Left Arrow 7"/>
          <p:cNvSpPr/>
          <p:nvPr/>
        </p:nvSpPr>
        <p:spPr>
          <a:xfrm>
            <a:off x="4297680" y="2240280"/>
            <a:ext cx="914400" cy="320040"/>
          </a:xfrm>
          <a:prstGeom prst="leftArrow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74519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7D4F"/>
                </a:solidFill>
                <a:latin typeface="Yu Gothic"/>
                <a:ea typeface="Yu Gothic"/>
              </a:rPr>
              <a:t>痕跡なし（V系）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5394960" cy="2788920"/>
          </a:xfrm>
          <a:prstGeom prst="roundRect">
            <a:avLst>
              <a:gd name="adj" fmla="val 5000"/>
            </a:avLst>
          </a:prstGeom>
          <a:solidFill>
            <a:srgbClr val="ECF6F0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4F"/>
                </a:solidFill>
                <a:latin typeface="Yu Gothic"/>
                <a:ea typeface="Yu Gothic"/>
              </a:rPr>
              <a:t>→ 遮断・隔離を第一選択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493776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4292F"/>
                </a:solidFill>
                <a:latin typeface="Yu Gothic"/>
                <a:ea typeface="Yu Gothic"/>
              </a:rPr>
              <a:t>外部からの悪用が脅威 ⇒ 攻撃経路（外部到達性）を断てば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4292F"/>
                </a:solidFill>
                <a:latin typeface="Yu Gothic"/>
                <a:ea typeface="Yu Gothic"/>
              </a:rPr>
              <a:t>停止と同等のリスク低減。加えて──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2F52"/>
                </a:solidFill>
                <a:latin typeface="Yu Gothic"/>
                <a:ea typeface="Yu Gothic"/>
              </a:rPr>
              <a:t>  ✓ 停止・再起動に伴う障害リスクがない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2F52"/>
                </a:solidFill>
                <a:latin typeface="Yu Gothic"/>
                <a:ea typeface="Yu Gothic"/>
              </a:rPr>
              <a:t>  ✓ メモリ・プロセスが保全され調査しやすい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2F52"/>
                </a:solidFill>
                <a:latin typeface="Yu Gothic"/>
                <a:ea typeface="Yu Gothic"/>
              </a:rPr>
              <a:t>  ✓ 内部業務を継続できる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2F52"/>
                </a:solidFill>
                <a:latin typeface="Yu Gothic"/>
                <a:ea typeface="Yu Gothic"/>
              </a:rPr>
              <a:t>  ✓ 復旧は遮断解除のみで速い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4292F"/>
                </a:solidFill>
                <a:latin typeface="Yu Gothic"/>
                <a:ea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07B00"/>
                </a:solidFill>
                <a:latin typeface="Yu Gothic"/>
                <a:ea typeface="Yu Gothic"/>
              </a:rPr>
              <a:t>前提：経路の網羅（専用線・SaaS・保守回線・帯域外通信）。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07B00"/>
                </a:solidFill>
                <a:latin typeface="Yu Gothic"/>
                <a:ea typeface="Yu Gothic"/>
              </a:rPr>
              <a:t>網羅の確証がなければ確実な「停止」側へ倒す。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49440" y="2240280"/>
            <a:ext cx="914400" cy="320040"/>
          </a:xfrm>
          <a:prstGeom prst="rightArrow">
            <a:avLst/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874519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43F3F"/>
                </a:solidFill>
                <a:latin typeface="Yu Gothic"/>
                <a:ea typeface="Yu Gothic"/>
              </a:rPr>
              <a:t>痕跡あり（A系）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697480"/>
            <a:ext cx="5394960" cy="278892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19050">
            <a:solidFill>
              <a:srgbClr val="D43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816352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43F3F"/>
                </a:solidFill>
                <a:latin typeface="Yu Gothic"/>
                <a:ea typeface="Yu Gothic"/>
              </a:rPr>
              <a:t>→ 隔離・停止まで踏み込む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493776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4292F"/>
                </a:solidFill>
                <a:latin typeface="Yu Gothic"/>
                <a:ea typeface="Yu Gothic"/>
              </a:rPr>
              <a:t>攻撃者が内部に足場を持つと、境界遮断だけでは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4292F"/>
                </a:solidFill>
                <a:latin typeface="Yu Gothic"/>
                <a:ea typeface="Yu Gothic"/>
              </a:rPr>
              <a:t>横展開・時限起動・内部破壊が継続し得る。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2F52"/>
                </a:solidFill>
                <a:latin typeface="Yu Gothic"/>
                <a:ea typeface="Yu Gothic"/>
              </a:rPr>
              <a:t>  ✓ 対象セグメントを内外両方向で隔離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2F52"/>
                </a:solidFill>
                <a:latin typeface="Yu Gothic"/>
                <a:ea typeface="Yu Gothic"/>
              </a:rPr>
              <a:t>  ✓ 破壊活動が進行中ならホスト停止まで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A2F52"/>
                </a:solidFill>
                <a:latin typeface="Yu Gothic"/>
                <a:ea typeface="Yu Gothic"/>
              </a:rPr>
              <a:t>　　（サスペンド・電源断を含む）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4292F"/>
                </a:solidFill>
                <a:latin typeface="Yu Gothic"/>
                <a:ea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8F1D1D"/>
                </a:solidFill>
                <a:latin typeface="Yu Gothic"/>
                <a:ea typeface="Yu Gothic"/>
              </a:rPr>
              <a:t>手段の階層：ネットワーク隔離 → 正常停止 →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8F1D1D"/>
                </a:solidFill>
                <a:latin typeface="Yu Gothic"/>
                <a:ea typeface="Yu Gothic"/>
              </a:rPr>
              <a:t>ハイバネーション/サスペンド → 強制電源断（最終手段）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SEC-STD-001 v1.3 ｜ サービス／ITシステム停止基準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566928" cy="493776"/>
          </a:xfrm>
          <a:prstGeom prst="roundRect">
            <a:avLst>
              <a:gd name="adj" fmla="val 2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Yu Gothic"/>
                <a:ea typeface="Yu Gothic"/>
              </a:rPr>
              <a:t>誰が止めるか ― 判断権限と緊急単独発動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548640"/>
            <a:ext cx="104241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9CBE4"/>
                </a:solidFill>
                <a:latin typeface="Yu Gothic"/>
                <a:ea typeface="Yu Gothic"/>
              </a:rPr>
              <a:t>第8章：夜間・休日でも判断できるよう事前委譲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F52"/>
                </a:solidFill>
                <a:latin typeface="Yu Gothic"/>
                <a:ea typeface="Yu Gothic"/>
              </a:rPr>
              <a:t>レベルが上がるほど判断者も上位へ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868680" cy="822960"/>
          </a:xfrm>
          <a:prstGeom prst="roundRect">
            <a:avLst>
              <a:gd name="adj" fmla="val 12000"/>
            </a:avLst>
          </a:prstGeom>
          <a:solidFill>
            <a:srgbClr val="D2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L1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508760"/>
            <a:ext cx="56692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2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6002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Yu Gothic"/>
                <a:ea typeface="Yu Gothic"/>
              </a:rPr>
              <a:t>警戒： </a:t>
            </a: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当直運用責任者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6596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事後報告 → システム管理責任者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41448"/>
            <a:ext cx="868680" cy="822960"/>
          </a:xfrm>
          <a:prstGeom prst="roundRect">
            <a:avLst>
              <a:gd name="adj" fmla="val 12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L2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441448"/>
            <a:ext cx="56692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5328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Yu Gothic"/>
                <a:ea typeface="Yu Gothic"/>
              </a:rPr>
              <a:t>部分停止： </a:t>
            </a: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CSIRT責任者／システム管理責任者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986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事後報告 → CISO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74136"/>
            <a:ext cx="868680" cy="822960"/>
          </a:xfrm>
          <a:prstGeom prst="roundRect">
            <a:avLst>
              <a:gd name="adj" fmla="val 12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L3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3374136"/>
            <a:ext cx="56692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43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465576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Yu Gothic"/>
                <a:ea typeface="Yu Gothic"/>
              </a:rPr>
              <a:t>外部遮断： </a:t>
            </a: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CISO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31336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事後報告 → 経営トップ（速やかに）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06824"/>
            <a:ext cx="868680" cy="822960"/>
          </a:xfrm>
          <a:prstGeom prst="roundRect">
            <a:avLst>
              <a:gd name="adj" fmla="val 12000"/>
            </a:avLst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L4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4306824"/>
            <a:ext cx="56692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398264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B7280"/>
                </a:solidFill>
                <a:latin typeface="Yu Gothic"/>
                <a:ea typeface="Yu Gothic"/>
              </a:rPr>
              <a:t>全面停止： </a:t>
            </a: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CISO（経営トップへ即時報告）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64024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292F"/>
                </a:solidFill>
                <a:latin typeface="Yu Gothic"/>
                <a:ea typeface="Yu Gothic"/>
              </a:rPr>
              <a:t>事後報告 → 経営トップ・取締役会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508760"/>
            <a:ext cx="4343400" cy="260604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19050">
            <a:solidFill>
              <a:srgbClr val="D43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1645920"/>
            <a:ext cx="4023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8F1D1D"/>
                </a:solidFill>
                <a:latin typeface="Yu Gothic"/>
                <a:ea typeface="Yu Gothic"/>
              </a:rPr>
              <a:t>⚡ 緊急時の単独発動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148840"/>
            <a:ext cx="393192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A-3〜A-5（データ流出進行中・認証基盤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侵害・破壊的攻撃）に該当する場合──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F1D1D"/>
                </a:solidFill>
                <a:latin typeface="Yu Gothic"/>
                <a:ea typeface="Yu Gothic"/>
              </a:rPr>
              <a:t>検知者は上位承認を待たず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F1D1D"/>
                </a:solidFill>
                <a:latin typeface="Yu Gothic"/>
                <a:ea typeface="Yu Gothic"/>
              </a:rPr>
              <a:t>L4相当の遮断を実施してよい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4292F"/>
                </a:solidFill>
                <a:latin typeface="Yu Gothic"/>
                <a:ea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2F52"/>
                </a:solidFill>
                <a:latin typeface="Yu Gothic"/>
                <a:ea typeface="Yu Gothic"/>
              </a:rPr>
              <a:t>✓ 承認待ちによる被害拡大の責任は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2F52"/>
                </a:solidFill>
                <a:latin typeface="Yu Gothic"/>
                <a:ea typeface="Yu Gothic"/>
              </a:rPr>
              <a:t>　発動者に帰さない（免責）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2F52"/>
                </a:solidFill>
                <a:latin typeface="Yu Gothic"/>
                <a:ea typeface="Yu Gothic"/>
              </a:rPr>
              <a:t>✓ 誤検知による停止も懲戒対象外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4251960"/>
            <a:ext cx="4343400" cy="160020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370832"/>
            <a:ext cx="402336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2F52"/>
                </a:solidFill>
                <a:latin typeface="Yu Gothic"/>
                <a:ea typeface="Yu Gothic"/>
              </a:rPr>
              <a:t>👔 経営トップの関与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能動的停止は経営判断事項。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経営トップは本基準と各シナリオを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事前了知し、L4発動を遅滞なく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追認できる状態を保つ。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SEC-STD-001 v1.3 ｜ サービス／ITシステム停止基準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566928" cy="493776"/>
          </a:xfrm>
          <a:prstGeom prst="roundRect">
            <a:avLst>
              <a:gd name="adj" fmla="val 2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Yu Gothic"/>
                <a:ea typeface="Yu Gothic"/>
              </a:rPr>
              <a:t>停止の順序 ― 末端から、認証基盤は最後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548640"/>
            <a:ext cx="104241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9CBE4"/>
                </a:solidFill>
                <a:latin typeface="Yu Gothic"/>
                <a:ea typeface="Yu Gothic"/>
              </a:rPr>
              <a:t>第9.1：停止作業自体が依存する基盤を最後まで残す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34440"/>
            <a:ext cx="59893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252728"/>
            <a:ext cx="5760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2F52"/>
                </a:solidFill>
                <a:latin typeface="Yu Gothic"/>
                <a:ea typeface="Yu Gothic"/>
              </a:rPr>
              <a:t>新規受付の停止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499616"/>
            <a:ext cx="57607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入口で新規セッション遮断（既存処理は継続）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58368" y="1691640"/>
            <a:ext cx="146304" cy="201168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874520"/>
            <a:ext cx="59893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892808"/>
            <a:ext cx="5760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2F52"/>
                </a:solidFill>
                <a:latin typeface="Yu Gothic"/>
                <a:ea typeface="Yu Gothic"/>
              </a:rPr>
              <a:t>業務アプリケーション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139696"/>
            <a:ext cx="57607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仕掛かり取引の完了/取消を待ち静止点を確保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58368" y="2331720"/>
            <a:ext cx="146304" cy="201168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" y="2514600"/>
            <a:ext cx="457200" cy="45720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514600"/>
            <a:ext cx="59893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532888"/>
            <a:ext cx="5760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2F52"/>
                </a:solidFill>
                <a:latin typeface="Yu Gothic"/>
                <a:ea typeface="Yu Gothic"/>
              </a:rPr>
              <a:t>ジョブ・バッチ・連携基盤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779776"/>
            <a:ext cx="57607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実行中ジョブの再開点を記録して停止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58368" y="2971800"/>
            <a:ext cx="146304" cy="201168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" y="3154680"/>
            <a:ext cx="457200" cy="45720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154680"/>
            <a:ext cx="59893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172968"/>
            <a:ext cx="5760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2F52"/>
                </a:solidFill>
                <a:latin typeface="Yu Gothic"/>
                <a:ea typeface="Yu Gothic"/>
              </a:rPr>
              <a:t>データベース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419856"/>
            <a:ext cx="57607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静止点確認・バックアップ取得後に正常停止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658368" y="3611880"/>
            <a:ext cx="146304" cy="201168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" y="3794760"/>
            <a:ext cx="457200" cy="45720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794760"/>
            <a:ext cx="59893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3813048"/>
            <a:ext cx="5760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2F52"/>
                </a:solidFill>
                <a:latin typeface="Yu Gothic"/>
                <a:ea typeface="Yu Gothic"/>
              </a:rPr>
              <a:t>監視・ログ基盤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059936"/>
            <a:ext cx="57607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停止完了を見届けてから停止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58368" y="4251960"/>
            <a:ext cx="146304" cy="201168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2920" y="4434840"/>
            <a:ext cx="457200" cy="457200"/>
          </a:xfrm>
          <a:prstGeom prst="ellipse">
            <a:avLst/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434840"/>
            <a:ext cx="5989320" cy="512064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 w="16510">
            <a:solidFill>
              <a:srgbClr val="8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4453128"/>
            <a:ext cx="5760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2F52"/>
                </a:solidFill>
                <a:latin typeface="Yu Gothic"/>
                <a:ea typeface="Yu Gothic"/>
              </a:rPr>
              <a:t>認証基盤（AD/SSO/IDaaS/特権ID）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700016"/>
            <a:ext cx="57607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292F"/>
                </a:solidFill>
                <a:latin typeface="Yu Gothic"/>
                <a:ea typeface="Yu Gothic"/>
              </a:rPr>
              <a:t>必ず最後。復旧は逆順で最初に立ち上げ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1234440"/>
            <a:ext cx="4389120" cy="233172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1231" y="1353312"/>
            <a:ext cx="402336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2F52"/>
                </a:solidFill>
                <a:latin typeface="Yu Gothic"/>
                <a:ea typeface="Yu Gothic"/>
              </a:rPr>
              <a:t>なぜ認証基盤が最後か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各システムの停止操作・管理コンソール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へのログイン自体が認証基盤に依存。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先に止めると停止作業そのものが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実行不能になる。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24292F"/>
                </a:solidFill>
                <a:latin typeface="Yu Gothic"/>
                <a:ea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2F52"/>
                </a:solidFill>
                <a:latin typeface="Yu Gothic"/>
                <a:ea typeface="Yu Gothic"/>
              </a:rPr>
              <a:t>→ ブレークグラスアカウント（各システムの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2F52"/>
                </a:solidFill>
                <a:latin typeface="Yu Gothic"/>
                <a:ea typeface="Yu Gothic"/>
              </a:rPr>
              <a:t>　ローカル緊急ID）と帯域外管理経路で担保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3703320"/>
            <a:ext cx="4389120" cy="214884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12700">
            <a:solidFill>
              <a:srgbClr val="D43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71231" y="3822191"/>
            <a:ext cx="402336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8F1D1D"/>
                </a:solidFill>
                <a:latin typeface="Yu Gothic"/>
                <a:ea typeface="Yu Gothic"/>
              </a:rPr>
              <a:t>⚠ 例外：認証基盤自体が侵害（シナリオ5）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停止ではなく ネットワーク隔離 を先行。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停止作業はブレークグラスIDで継続する。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4292F"/>
                </a:solidFill>
                <a:latin typeface="Yu Gothic"/>
                <a:ea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侵害された認証基盤を動かしたまま他を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止めると、攻撃者に停止作業を妨害・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292F"/>
                </a:solidFill>
                <a:latin typeface="Yu Gothic"/>
                <a:ea typeface="Yu Gothic"/>
              </a:rPr>
              <a:t>監視される恐れがある。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SEC-STD-001 v1.3 ｜ サービス／ITシステム停止基準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566928" cy="493776"/>
          </a:xfrm>
          <a:prstGeom prst="roundRect">
            <a:avLst>
              <a:gd name="adj" fmla="val 2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Yu Gothic"/>
                <a:ea typeface="Yu Gothic"/>
              </a:rPr>
              <a:t>揮発性情報の保全 ― 消えやすい順に取る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548640"/>
            <a:ext cx="104241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9CBE4"/>
                </a:solidFill>
                <a:latin typeface="Yu Gothic"/>
                <a:ea typeface="Yu Gothic"/>
              </a:rPr>
              <a:t>第9.3：RFC 3227に準拠（L3以上は停止前に取得）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280160"/>
            <a:ext cx="82296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325880"/>
            <a:ext cx="7863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メモリダンプ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20"/>
            <a:ext cx="7863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暗号鍵・ファイルレスマルウェアはメモリにしか無い場合あり。仮想はハイパーバイザのスナップショット/サスペンドで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121408"/>
            <a:ext cx="548640" cy="548640"/>
          </a:xfrm>
          <a:prstGeom prst="ellipse">
            <a:avLst/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121408"/>
            <a:ext cx="82296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43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167128"/>
            <a:ext cx="7863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ネットワーク状態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87168"/>
            <a:ext cx="7863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アクティブ接続・ARP/ルーティング・DNSキャッシュ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962656"/>
            <a:ext cx="548640" cy="548640"/>
          </a:xfrm>
          <a:prstGeom prst="ellipse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2962656"/>
            <a:ext cx="82296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008376"/>
            <a:ext cx="7863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プロセス・セッション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28416"/>
            <a:ext cx="7863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実行中プロセスの親子関係・ログオン中セッション・オープンファイル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803904"/>
            <a:ext cx="548640" cy="548640"/>
          </a:xfrm>
          <a:prstGeom prst="ellipse">
            <a:avLst/>
          </a:prstGeom>
          <a:solidFill>
            <a:srgbClr val="D2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3803904"/>
            <a:ext cx="82296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2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849624"/>
            <a:ext cx="7863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ディスクイメージ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69664"/>
            <a:ext cx="7863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隔離後に書き込み防止措置のうえ取得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645152"/>
            <a:ext cx="548640" cy="548640"/>
          </a:xfrm>
          <a:prstGeom prst="ellipse">
            <a:avLst/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4645152"/>
            <a:ext cx="82296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A9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4690872"/>
            <a:ext cx="7863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各種ログ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010912"/>
            <a:ext cx="7863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FW・プロキシ・認証・EDRのログを改ざん不能な別系統へ即時退避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829800" y="1371600"/>
            <a:ext cx="502920" cy="4114800"/>
          </a:xfrm>
          <a:prstGeom prst="downArrow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1463040"/>
            <a:ext cx="1645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F52"/>
                </a:solidFill>
                <a:latin typeface="Yu Gothic"/>
                <a:ea typeface="Yu Gothic"/>
              </a:rPr>
              <a:t>揮発性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F1D1D"/>
                </a:solidFill>
                <a:latin typeface="Yu Gothic"/>
                <a:ea typeface="Yu Gothic"/>
              </a:rPr>
              <a:t>高い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4846320"/>
            <a:ext cx="1645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F52"/>
                </a:solidFill>
                <a:latin typeface="Yu Gothic"/>
                <a:ea typeface="Yu Gothic"/>
              </a:rPr>
              <a:t>揮発性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6DB3"/>
                </a:solidFill>
                <a:latin typeface="Yu Gothic"/>
                <a:ea typeface="Yu Gothic"/>
              </a:rPr>
              <a:t>低い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" y="5806440"/>
            <a:ext cx="8229600" cy="502920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12700"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4292F"/>
                </a:solidFill>
                <a:latin typeface="Yu Gothic"/>
                <a:ea typeface="Yu Gothic"/>
              </a:rPr>
              <a:t>取得証拠はハッシュ記録・隔離保管し、取扱記録（Chain of Custody）を残す（当局報告・保険請求に使用し得る）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SEC-STD-001 v1.3 ｜ サービス／ITシステム停止基準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566928" cy="493776"/>
          </a:xfrm>
          <a:prstGeom prst="roundRect">
            <a:avLst>
              <a:gd name="adj" fmla="val 2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Yu Gothic"/>
                <a:ea typeface="Yu Gothic"/>
              </a:rPr>
              <a:t>想定シナリオ集 ― 年次演習の題材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548640"/>
            <a:ext cx="104241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9CBE4"/>
                </a:solidFill>
                <a:latin typeface="Yu Gothic"/>
                <a:ea typeface="Yu Gothic"/>
              </a:rPr>
              <a:t>第7章：いずれも過去に類似事案。AIで短時間・高頻度化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2743200" cy="137160"/>
          </a:xfrm>
          <a:prstGeom prst="rect">
            <a:avLst/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444752"/>
            <a:ext cx="502920" cy="502920"/>
          </a:xfrm>
          <a:prstGeom prst="ellipse">
            <a:avLst/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481328"/>
            <a:ext cx="914400" cy="384048"/>
          </a:xfrm>
          <a:prstGeom prst="roundRect">
            <a:avLst>
              <a:gd name="adj" fmla="val 15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</a:rPr>
              <a:t>L2→L3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F52"/>
                </a:solidFill>
                <a:latin typeface="Yu Gothic"/>
                <a:ea typeface="Yu Gothic"/>
              </a:rPr>
              <a:t>公開WebにゼロデイRCE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Yu Gothic"/>
                <a:ea typeface="Yu Gothic"/>
              </a:rPr>
              <a:t>実例：</a:t>
            </a:r>
            <a:r>
              <a:rPr sz="1000" b="0" i="0">
                <a:solidFill>
                  <a:srgbClr val="24292F"/>
                </a:solidFill>
                <a:latin typeface="Yu Gothic"/>
                <a:ea typeface="Yu Gothic"/>
              </a:rPr>
              <a:t>Struts2 / Log4Shell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18872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188720"/>
            <a:ext cx="2743200" cy="137160"/>
          </a:xfrm>
          <a:prstGeom prst="rect">
            <a:avLst/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1444752"/>
            <a:ext cx="502920" cy="502920"/>
          </a:xfrm>
          <a:prstGeom prst="ellipse">
            <a:avLst/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481328"/>
            <a:ext cx="914400" cy="384048"/>
          </a:xfrm>
          <a:prstGeom prst="roundRect">
            <a:avLst>
              <a:gd name="adj" fmla="val 15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</a:rPr>
              <a:t>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057400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F52"/>
                </a:solidFill>
                <a:latin typeface="Yu Gothic"/>
                <a:ea typeface="Yu Gothic"/>
              </a:rPr>
              <a:t>VPN・境界機器の悪用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834640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Yu Gothic"/>
                <a:ea typeface="Yu Gothic"/>
              </a:rPr>
              <a:t>実例：</a:t>
            </a:r>
            <a:r>
              <a:rPr sz="1000" b="0" i="0">
                <a:solidFill>
                  <a:srgbClr val="24292F"/>
                </a:solidFill>
                <a:latin typeface="Yu Gothic"/>
                <a:ea typeface="Yu Gothic"/>
              </a:rPr>
              <a:t>Fortinet / Ivanti / Citrix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18872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188720"/>
            <a:ext cx="2743200" cy="13716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1444752"/>
            <a:ext cx="502920" cy="502920"/>
          </a:xfrm>
          <a:prstGeom prst="ellipse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1481328"/>
            <a:ext cx="914400" cy="384048"/>
          </a:xfrm>
          <a:prstGeom prst="roundRect">
            <a:avLst>
              <a:gd name="adj" fmla="val 15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</a:rPr>
              <a:t>L1→L2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57400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F52"/>
                </a:solidFill>
                <a:latin typeface="Yu Gothic"/>
                <a:ea typeface="Yu Gothic"/>
              </a:rPr>
              <a:t>パッチ直後のNデイ攻撃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34640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Yu Gothic"/>
                <a:ea typeface="Yu Gothic"/>
              </a:rPr>
              <a:t>実例：</a:t>
            </a:r>
            <a:r>
              <a:rPr sz="1000" b="0" i="0">
                <a:solidFill>
                  <a:srgbClr val="24292F"/>
                </a:solidFill>
                <a:latin typeface="Yu Gothic"/>
                <a:ea typeface="Yu Gothic"/>
              </a:rPr>
              <a:t>ProxyLogon / MOVEit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118872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9720" y="1188720"/>
            <a:ext cx="2743200" cy="137160"/>
          </a:xfrm>
          <a:prstGeom prst="rect">
            <a:avLst/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0" y="1444752"/>
            <a:ext cx="502920" cy="502920"/>
          </a:xfrm>
          <a:prstGeom prst="ellipse">
            <a:avLst/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81360" y="1481328"/>
            <a:ext cx="914400" cy="384048"/>
          </a:xfrm>
          <a:prstGeom prst="roundRect">
            <a:avLst>
              <a:gd name="adj" fmla="val 15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</a:rPr>
              <a:t>L3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057400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F52"/>
                </a:solidFill>
                <a:latin typeface="Yu Gothic"/>
                <a:ea typeface="Yu Gothic"/>
              </a:rPr>
              <a:t>OSSサプライチェーン混入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834640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Yu Gothic"/>
                <a:ea typeface="Yu Gothic"/>
              </a:rPr>
              <a:t>実例：</a:t>
            </a:r>
            <a:r>
              <a:rPr sz="1000" b="0" i="0">
                <a:solidFill>
                  <a:srgbClr val="24292F"/>
                </a:solidFill>
                <a:latin typeface="Yu Gothic"/>
                <a:ea typeface="Yu Gothic"/>
              </a:rPr>
              <a:t>XZ Utils / Codecov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538728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3538728"/>
            <a:ext cx="2743200" cy="137160"/>
          </a:xfrm>
          <a:prstGeom prst="rect">
            <a:avLst/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03120" y="3831336"/>
            <a:ext cx="914400" cy="384048"/>
          </a:xfrm>
          <a:prstGeom prst="roundRect">
            <a:avLst>
              <a:gd name="adj" fmla="val 15000"/>
            </a:avLst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</a:rP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407408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F52"/>
                </a:solidFill>
                <a:latin typeface="Yu Gothic"/>
                <a:ea typeface="Yu Gothic"/>
              </a:rPr>
              <a:t>認証基盤の侵害兆候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18464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Yu Gothic"/>
                <a:ea typeface="Yu Gothic"/>
              </a:rPr>
              <a:t>実例：</a:t>
            </a:r>
            <a:r>
              <a:rPr sz="1000" b="0" i="0">
                <a:solidFill>
                  <a:srgbClr val="24292F"/>
                </a:solidFill>
                <a:latin typeface="Yu Gothic"/>
                <a:ea typeface="Yu Gothic"/>
              </a:rPr>
              <a:t>AD侵害 / Okta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3538728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37560" y="3538728"/>
            <a:ext cx="2743200" cy="137160"/>
          </a:xfrm>
          <a:prstGeom prst="rect">
            <a:avLst/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474720" y="3794760"/>
            <a:ext cx="502920" cy="502920"/>
          </a:xfrm>
          <a:prstGeom prst="ellipse">
            <a:avLst/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3831336"/>
            <a:ext cx="914400" cy="384048"/>
          </a:xfrm>
          <a:prstGeom prst="roundRect">
            <a:avLst>
              <a:gd name="adj" fmla="val 15000"/>
            </a:avLst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</a:rPr>
              <a:t>L4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407408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F52"/>
                </a:solidFill>
                <a:latin typeface="Yu Gothic"/>
                <a:ea typeface="Yu Gothic"/>
              </a:rPr>
              <a:t>ランサムウェア展開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8464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Yu Gothic"/>
                <a:ea typeface="Yu Gothic"/>
              </a:rPr>
              <a:t>実例：</a:t>
            </a:r>
            <a:r>
              <a:rPr sz="1000" b="0" i="0">
                <a:solidFill>
                  <a:srgbClr val="24292F"/>
                </a:solidFill>
                <a:latin typeface="Yu Gothic"/>
                <a:ea typeface="Yu Gothic"/>
              </a:rPr>
              <a:t>国内医療・港湾・製造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538728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538728"/>
            <a:ext cx="2743200" cy="13716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3794760"/>
            <a:ext cx="502920" cy="502920"/>
          </a:xfrm>
          <a:prstGeom prst="ellipse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3831336"/>
            <a:ext cx="914400" cy="384048"/>
          </a:xfrm>
          <a:prstGeom prst="roundRect">
            <a:avLst>
              <a:gd name="adj" fmla="val 15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</a:rPr>
              <a:t>L2〜L3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407408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F52"/>
                </a:solidFill>
                <a:latin typeface="Yu Gothic"/>
                <a:ea typeface="Yu Gothic"/>
              </a:rPr>
              <a:t>大量脆弱性の同時公表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18464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Yu Gothic"/>
                <a:ea typeface="Yu Gothic"/>
              </a:rPr>
              <a:t>実例：</a:t>
            </a:r>
            <a:r>
              <a:rPr sz="1000" b="0" i="0">
                <a:solidFill>
                  <a:srgbClr val="24292F"/>
                </a:solidFill>
                <a:latin typeface="Yu Gothic"/>
                <a:ea typeface="Yu Gothic"/>
              </a:rPr>
              <a:t>要請が想定する事態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89720" y="3538728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89720" y="3538728"/>
            <a:ext cx="2743200" cy="137160"/>
          </a:xfrm>
          <a:prstGeom prst="rect">
            <a:avLst/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6880" y="3794760"/>
            <a:ext cx="502920" cy="502920"/>
          </a:xfrm>
          <a:prstGeom prst="ellipse">
            <a:avLst/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881360" y="3831336"/>
            <a:ext cx="914400" cy="384048"/>
          </a:xfrm>
          <a:prstGeom prst="roundRect">
            <a:avLst>
              <a:gd name="adj" fmla="val 15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</a:rPr>
              <a:t>L3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4407408"/>
            <a:ext cx="24688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F52"/>
                </a:solidFill>
                <a:latin typeface="Yu Gothic"/>
                <a:ea typeface="Yu Gothic"/>
              </a:rPr>
              <a:t>共同運営/クラウド側侵害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518464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Yu Gothic"/>
                <a:ea typeface="Yu Gothic"/>
              </a:rPr>
              <a:t>実例：</a:t>
            </a:r>
            <a:r>
              <a:rPr sz="1000" b="0" i="0">
                <a:solidFill>
                  <a:srgbClr val="24292F"/>
                </a:solidFill>
                <a:latin typeface="Yu Gothic"/>
                <a:ea typeface="Yu Gothic"/>
              </a:rPr>
              <a:t>共同センター波及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SEC-STD-001 v1.3 ｜ サービス／ITシステム停止基準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566928" cy="493776"/>
          </a:xfrm>
          <a:prstGeom prst="roundRect">
            <a:avLst>
              <a:gd name="adj" fmla="val 2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Yu Gothic"/>
                <a:ea typeface="Yu Gothic"/>
              </a:rPr>
              <a:t>復旧（停止解除）基準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548640"/>
            <a:ext cx="104241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9CBE4"/>
                </a:solidFill>
                <a:latin typeface="Yu Gothic"/>
                <a:ea typeface="Yu Gothic"/>
              </a:rPr>
              <a:t>第10章：5要件をすべて満たすまで引き下げ不可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63093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380744"/>
            <a:ext cx="60350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4292F"/>
                </a:solidFill>
                <a:latin typeface="Yu Gothic"/>
                <a:ea typeface="Yu Gothic"/>
              </a:rPr>
              <a:t>原因脆弱性へのパッチ／検証済み緩和策の実装が完了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1984248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1984248"/>
            <a:ext cx="63093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039112"/>
            <a:ext cx="60350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4292F"/>
                </a:solidFill>
                <a:latin typeface="Yu Gothic"/>
                <a:ea typeface="Yu Gothic"/>
              </a:rPr>
              <a:t>侵害調査完了・バックドア排除・影響範囲のクレデンシャル全数リセット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642616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642616"/>
            <a:ext cx="63093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697480"/>
            <a:ext cx="60350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4292F"/>
                </a:solidFill>
                <a:latin typeface="Yu Gothic"/>
                <a:ea typeface="Yu Gothic"/>
              </a:rPr>
              <a:t>再発検知手段（シグネチャ・監視ルール）を実装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300984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300984"/>
            <a:ext cx="63093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355848"/>
            <a:ext cx="60350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4292F"/>
                </a:solidFill>
                <a:latin typeface="Yu Gothic"/>
                <a:ea typeface="Yu Gothic"/>
              </a:rPr>
              <a:t>発動時と同格以上の権限者が再開を承認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959352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959352"/>
            <a:ext cx="63093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014216"/>
            <a:ext cx="60350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4292F"/>
                </a:solidFill>
                <a:latin typeface="Yu Gothic"/>
                <a:ea typeface="Yu Gothic"/>
              </a:rPr>
              <a:t>再開後24時間はL1相当の警戒を維持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1325880"/>
            <a:ext cx="4069080" cy="379476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1444752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F52"/>
                </a:solidFill>
                <a:latin typeface="Yu Gothic"/>
                <a:ea typeface="Yu Gothic"/>
              </a:rPr>
              <a:t>復旧の順序（停止の逆順）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920240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8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認証基盤・監視基盤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601200" y="2377440"/>
            <a:ext cx="128016" cy="146304"/>
          </a:xfrm>
          <a:prstGeom prst="downArrow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55279" y="2523744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D4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データベース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601200" y="2980944"/>
            <a:ext cx="128016" cy="146304"/>
          </a:xfrm>
          <a:prstGeom prst="downArrow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79" y="3127248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連携基盤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9601200" y="3584448"/>
            <a:ext cx="128016" cy="146304"/>
          </a:xfrm>
          <a:prstGeom prst="downArrow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55279" y="3730752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D2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業務アプリケーション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9601200" y="4187952"/>
            <a:ext cx="128016" cy="146304"/>
          </a:xfrm>
          <a:prstGeom prst="downArrow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55279" y="4334256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</a:rPr>
              <a:t>外部公開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SEC-STD-001 v1.3 ｜ サービス／ITシステム停止基準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566928" cy="493776"/>
          </a:xfrm>
          <a:prstGeom prst="roundRect">
            <a:avLst>
              <a:gd name="adj" fmla="val 20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8016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Yu Gothic"/>
                <a:ea typeface="Yu Gothic"/>
              </a:rPr>
              <a:t>平時の準備義務 ― これが無いと発動できない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548640"/>
            <a:ext cx="104241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9CBE4"/>
                </a:solidFill>
                <a:latin typeface="Yu Gothic"/>
                <a:ea typeface="Yu Gothic"/>
              </a:rPr>
              <a:t>第12章：基準を機能させる8つの備え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55778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149047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6DB3"/>
                </a:solidFill>
                <a:latin typeface="Yu Gothic"/>
                <a:ea typeface="Yu Gothic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44168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1. 優先システムの特定と台帳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37360"/>
            <a:ext cx="4572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SBOM・NW構成を最新化。脆弱性公表時に1時間以内で該当判定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5778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1928" y="149047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6DB3"/>
                </a:solidFill>
                <a:latin typeface="Yu Gothic"/>
                <a:ea typeface="Yu Gothic"/>
              </a:rPr>
              <a:t>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344168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2. 技術負債の解消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737360"/>
            <a:ext cx="4572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不要ポート閉塞・不要特権ID削除・未適用パッチ・EOL更改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551176"/>
            <a:ext cx="55778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" y="2807208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6DB3"/>
                </a:solidFill>
                <a:latin typeface="Yu Gothic"/>
                <a:ea typeface="Yu Gothic"/>
              </a:rPr>
              <a:t>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60904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3. 脆弱性情報の常時監視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54096"/>
            <a:ext cx="4572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JVN/NVD/KEV/EPSS/ISAC/当局を日次以上で監視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551176"/>
            <a:ext cx="55778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1928" y="2807208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6DB3"/>
                </a:solidFill>
                <a:latin typeface="Yu Gothic"/>
                <a:ea typeface="Yu Gothic"/>
              </a:rPr>
              <a:t>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60904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4. 多層防御の維持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054096"/>
            <a:ext cx="4572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WAF仮想パッチ・EDR・NW分離・特権IDのMFA（停止以外の選択肢）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867912"/>
            <a:ext cx="55778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1208" y="4123944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6DB3"/>
                </a:solidFill>
                <a:latin typeface="Yu Gothic"/>
                <a:ea typeface="Yu Gothic"/>
              </a:rPr>
              <a:t>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977640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5. ベンダー契約の点検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70832"/>
            <a:ext cx="4572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夜間休日の対応可否・SLA・リソース確保状況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867912"/>
            <a:ext cx="55778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1928" y="4123944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6DB3"/>
                </a:solidFill>
                <a:latin typeface="Yu Gothic"/>
                <a:ea typeface="Yu Gothic"/>
              </a:rP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977640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6. 停止・復旧演習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370832"/>
            <a:ext cx="4572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年1回以上、経営トップ参加の机上＋実機。BG口座も検証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184648"/>
            <a:ext cx="55778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21208" y="54406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6DB3"/>
                </a:solidFill>
                <a:latin typeface="Yu Gothic"/>
                <a:ea typeface="Yu Gothic"/>
              </a:rPr>
              <a:t>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294376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7. 連絡網の維持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687568"/>
            <a:ext cx="4572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権限者・代行・ベンダー・当局窓口を四半期ごと検証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184648"/>
            <a:ext cx="55778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  <a:effectLst>
            <a:outerShdw blurRad="40000" dist="20000" dir="5400000" rotWithShape="0">
              <a:srgbClr val="1A2F5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1928" y="54406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6DB3"/>
                </a:solidFill>
                <a:latin typeface="Yu Gothic"/>
                <a:ea typeface="Yu Gothic"/>
              </a:rPr>
              <a:t>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294376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2F52"/>
                </a:solidFill>
                <a:latin typeface="Yu Gothic"/>
                <a:ea typeface="Yu Gothic"/>
              </a:rPr>
              <a:t>8. バックアップの隔離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687568"/>
            <a:ext cx="4572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292F"/>
                </a:solidFill>
                <a:latin typeface="Yu Gothic"/>
                <a:ea typeface="Yu Gothic"/>
              </a:rPr>
              <a:t>オフライン/イミュータブル。L4がデータ全損に直結しない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SEC-STD-001 v1.3 ｜ サービス／ITシステム停止基準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Yu Gothic"/>
                <a:ea typeface="Yu Gothic"/>
              </a:rPr>
              <a:t>まとめ ― 本基準が徹底する5つの考え方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3619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被害防止を可用性より優先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938528"/>
            <a:ext cx="99669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9CBE4"/>
                </a:solidFill>
                <a:latin typeface="Yu Gothic"/>
                <a:ea typeface="Yu Gothic"/>
              </a:rPr>
              <a:t>漏えい・改ざん・不正資金移動の蓋然性が高いなら止める。迷ったら強い停止側へ。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87168"/>
            <a:ext cx="548640" cy="54864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688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遮断を停止より優先（手段の選択）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2871216"/>
            <a:ext cx="99669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9CBE4"/>
                </a:solidFill>
                <a:latin typeface="Yu Gothic"/>
                <a:ea typeface="Yu Gothic"/>
              </a:rPr>
              <a:t>侵害痕跡がなければ遮断・隔離で同等の効果。経路を網羅できない時だけ停止に倒す。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19856"/>
            <a:ext cx="548640" cy="54864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401568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AI時代の時間前提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3803904"/>
            <a:ext cx="99669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9CBE4"/>
                </a:solidFill>
                <a:latin typeface="Yu Gothic"/>
                <a:ea typeface="Yu Gothic"/>
              </a:rPr>
              <a:t>「PoC未公開/スコア低い」を見送りの根拠にしない。パッチ公開＝攻撃出現の起点。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352544"/>
            <a:ext cx="548640" cy="54864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334256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止められる態勢を平時に作る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4736592"/>
            <a:ext cx="99669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9CBE4"/>
                </a:solidFill>
                <a:latin typeface="Yu Gothic"/>
                <a:ea typeface="Yu Gothic"/>
              </a:rPr>
              <a:t>権限の事前委譲・ブレークグラス・帯域外経路・年次演習・台帳整備が発動を支える。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285232"/>
            <a:ext cx="548640" cy="54864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266944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</a:rPr>
              <a:t>説明責任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5669280"/>
            <a:ext cx="99669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9CBE4"/>
                </a:solidFill>
                <a:latin typeface="Yu Gothic"/>
                <a:ea typeface="Yu Gothic"/>
              </a:rPr>
              <a:t>停止・非停止いずれも判断者/時刻/根拠を記録し、当局報告に耐える形で保全。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SEC-STD-001 v1.3 ｜ サービス／ITシステム停止基準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